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502920"/>
            <a:ext cx="1463040" cy="1463040"/>
          </a:xfrm>
          <a:prstGeom prst="ellipse">
            <a:avLst/>
          </a:prstGeom>
          <a:solidFill>
            <a:srgbClr val="66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1691640"/>
            <a:ext cx="731520" cy="731520"/>
          </a:xfrm>
          <a:prstGeom prst="ellipse">
            <a:avLst/>
          </a:prstGeom>
          <a:solidFill>
            <a:srgbClr val="27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281160" y="1920240"/>
            <a:ext cx="457200" cy="457200"/>
          </a:xfrm>
          <a:prstGeom prst="ellipse">
            <a:avLst/>
          </a:prstGeom>
          <a:solidFill>
            <a:srgbClr val="D7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12680" y="2743200"/>
            <a:ext cx="1737360" cy="1737360"/>
          </a:xfrm>
          <a:prstGeom prst="ellipse">
            <a:avLst/>
          </a:prstGeom>
          <a:solidFill>
            <a:srgbClr val="353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658368"/>
            <a:ext cx="896112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CCC6E6"/>
                </a:solidFill>
                <a:latin typeface="Aptos"/>
              </a:rPr>
              <a:t>MAJOR PROJECT–I  |  PROPOSED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71600"/>
            <a:ext cx="8869680" cy="11430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ptos"/>
              </a:rPr>
              <a:t>Using Machine Learning to Identify Rheumatoid Arthritis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788920"/>
            <a:ext cx="8503920" cy="38779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Using patient details and blood-test results to classify records as RA or non-RA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825109"/>
            <a:ext cx="8046720" cy="972574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  <a:latin typeface="Aptos"/>
              </a:rPr>
              <a:t>Presented by: </a:t>
            </a:r>
            <a:br>
              <a:rPr lang="en-IN" sz="1400" b="0" dirty="0">
                <a:solidFill>
                  <a:srgbClr val="FFFFFF"/>
                </a:solidFill>
                <a:latin typeface="Aptos"/>
              </a:rPr>
            </a:br>
            <a:r>
              <a:rPr sz="1400" b="0" dirty="0">
                <a:solidFill>
                  <a:srgbClr val="FFFFFF"/>
                </a:solidFill>
                <a:latin typeface="Aptos"/>
              </a:rPr>
              <a:t>Anjani Kumar  |  </a:t>
            </a:r>
            <a:r>
              <a:rPr sz="1400" b="0" dirty="0" err="1">
                <a:solidFill>
                  <a:srgbClr val="FFFFFF"/>
                </a:solidFill>
                <a:latin typeface="Aptos"/>
              </a:rPr>
              <a:t>B.Tech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CSE  |  Semester V</a:t>
            </a:r>
            <a:br>
              <a:rPr lang="en-IN" sz="1400" dirty="0">
                <a:solidFill>
                  <a:srgbClr val="FFFFFF"/>
                </a:solidFill>
                <a:latin typeface="Aptos"/>
              </a:rPr>
            </a:br>
            <a:r>
              <a:rPr lang="en-IN" sz="1400" dirty="0">
                <a:solidFill>
                  <a:srgbClr val="FFFFFF"/>
                </a:solidFill>
                <a:latin typeface="Aptos"/>
              </a:rPr>
              <a:t>Ali </a:t>
            </a:r>
            <a:r>
              <a:rPr lang="en-IN" sz="1400" dirty="0" err="1">
                <a:solidFill>
                  <a:srgbClr val="FFFFFF"/>
                </a:solidFill>
                <a:latin typeface="Aptos"/>
              </a:rPr>
              <a:t>Zamaan</a:t>
            </a:r>
            <a:r>
              <a:rPr lang="en-IN" sz="1400" dirty="0">
                <a:solidFill>
                  <a:srgbClr val="FFFFFF"/>
                </a:solidFill>
                <a:latin typeface="Aptos"/>
              </a:rPr>
              <a:t>      |  </a:t>
            </a:r>
            <a:r>
              <a:rPr lang="en-IN" sz="1400" dirty="0" err="1">
                <a:solidFill>
                  <a:srgbClr val="FFFFFF"/>
                </a:solidFill>
                <a:latin typeface="Aptos"/>
              </a:rPr>
              <a:t>B.Tech</a:t>
            </a:r>
            <a:r>
              <a:rPr lang="en-IN" sz="1400" dirty="0">
                <a:solidFill>
                  <a:srgbClr val="FFFFFF"/>
                </a:solidFill>
                <a:latin typeface="Aptos"/>
              </a:rPr>
              <a:t> CSE  |  Semester V</a:t>
            </a:r>
            <a:br>
              <a:rPr lang="en-IN" sz="1400" dirty="0">
                <a:solidFill>
                  <a:srgbClr val="FFFFFF"/>
                </a:solidFill>
                <a:latin typeface="Aptos"/>
              </a:rPr>
            </a:br>
            <a:r>
              <a:rPr lang="en-IN" sz="1400" dirty="0" err="1">
                <a:solidFill>
                  <a:srgbClr val="FFFFFF"/>
                </a:solidFill>
                <a:latin typeface="Aptos"/>
              </a:rPr>
              <a:t>Nakshtr</a:t>
            </a:r>
            <a:r>
              <a:rPr lang="en-IN" sz="1400" dirty="0">
                <a:solidFill>
                  <a:srgbClr val="FFFFFF"/>
                </a:solidFill>
                <a:latin typeface="Aptos"/>
              </a:rPr>
              <a:t> Gupta  |  </a:t>
            </a:r>
            <a:r>
              <a:rPr lang="en-IN" sz="1400" dirty="0" err="1">
                <a:solidFill>
                  <a:srgbClr val="FFFFFF"/>
                </a:solidFill>
                <a:latin typeface="Aptos"/>
              </a:rPr>
              <a:t>B.Tech</a:t>
            </a:r>
            <a:r>
              <a:rPr lang="en-IN" sz="1400" dirty="0">
                <a:solidFill>
                  <a:srgbClr val="FFFFFF"/>
                </a:solidFill>
                <a:latin typeface="Aptos"/>
              </a:rPr>
              <a:t> CSE  |  Semester V</a:t>
            </a:r>
            <a:endParaRPr sz="14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384" y="5413248"/>
            <a:ext cx="84124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100" b="0" dirty="0">
                <a:solidFill>
                  <a:srgbClr val="CCC6E6"/>
                </a:solidFill>
                <a:latin typeface="Aptos"/>
              </a:rPr>
              <a:t>Machine learning • Blood-test analysis • Explaining model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5942767"/>
            <a:ext cx="8686800" cy="38779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This study uses existing diagnosis records. It does not predict future disease or confirm early-stage 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19203F"/>
                </a:solidFill>
                <a:latin typeface="Aptos"/>
              </a:rPr>
              <a:t>1.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777240" cy="50292"/>
          </a:xfrm>
          <a:prstGeom prst="rect">
            <a:avLst/>
          </a:prstGeom>
          <a:solidFill>
            <a:srgbClr val="66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740664"/>
            <a:ext cx="96012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96D7E"/>
                </a:solidFill>
                <a:latin typeface="Aptos"/>
              </a:rPr>
              <a:t>What are we trying to predict?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96D7E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5212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80160"/>
            <a:ext cx="68580" cy="1920240"/>
          </a:xfrm>
          <a:prstGeom prst="rect">
            <a:avLst/>
          </a:prstGeom>
          <a:solidFill>
            <a:srgbClr val="66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99031"/>
            <a:ext cx="4892040" cy="3017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9203F"/>
                </a:solidFill>
                <a:latin typeface="Aptos"/>
              </a:rPr>
              <a:t>Clinical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64792"/>
            <a:ext cx="4892040" cy="849463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600" b="0" dirty="0">
                <a:solidFill>
                  <a:srgbClr val="2B2F3D"/>
                </a:solidFill>
                <a:latin typeface="Aptos"/>
              </a:rPr>
              <a:t>Rheumatoid arthritis (RA) can look similar to other diseases. Doctors use symptoms, examinations and blood tests to help make a diagnosis.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80160"/>
            <a:ext cx="5212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280160"/>
            <a:ext cx="68580" cy="1920240"/>
          </a:xfrm>
          <a:prstGeom prst="rect">
            <a:avLst/>
          </a:prstGeom>
          <a:solidFill>
            <a:srgbClr val="27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399031"/>
            <a:ext cx="4892040" cy="3017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9203F"/>
                </a:solidFill>
                <a:latin typeface="Aptos"/>
              </a:rPr>
              <a:t>Our ML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64792"/>
            <a:ext cx="4892040" cy="1095685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600" dirty="0"/>
              <a:t>We will predict one thing: does a record belong to the RA group, or to the non-RA group? The non-RA group combines all six other diagnosis categories. We will not identify which of those six diseases a person has.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" y="3703320"/>
            <a:ext cx="10492740" cy="2880789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What Does Our Model Predict?</a:t>
            </a:r>
          </a:p>
          <a:p>
            <a:endParaRPr lang="en-IN" b="1" dirty="0"/>
          </a:p>
          <a:p>
            <a:r>
              <a:rPr lang="en-IN" dirty="0"/>
              <a:t>Our model uses a patient's medical test results to predict whether their record belongs to the Rheumatoid Arthritis (RA) group or the Non-RA group.</a:t>
            </a:r>
          </a:p>
          <a:p>
            <a:endParaRPr lang="en-IN" dirty="0"/>
          </a:p>
          <a:p>
            <a:r>
              <a:rPr lang="en-IN" b="1" dirty="0"/>
              <a:t>Example:</a:t>
            </a:r>
            <a:r>
              <a:rPr lang="en-IN" dirty="0"/>
              <a:t> If the model gives an RA score of 0.72, it predicts RA for that record. This is an example only, not an actual result from our model.</a:t>
            </a:r>
          </a:p>
          <a:p>
            <a:endParaRPr lang="en-IN" dirty="0"/>
          </a:p>
          <a:p>
            <a:r>
              <a:rPr lang="en-IN" dirty="0"/>
              <a:t>The prediction is based on patterns learned from existing patient records. It is not a confirmed medical diagnosis.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19203F"/>
                </a:solidFill>
                <a:latin typeface="Aptos"/>
              </a:rPr>
              <a:t>2.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777240" cy="50292"/>
          </a:xfrm>
          <a:prstGeom prst="rect">
            <a:avLst/>
          </a:prstGeom>
          <a:solidFill>
            <a:srgbClr val="66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740664"/>
            <a:ext cx="96012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96D7E"/>
                </a:solidFill>
                <a:latin typeface="Aptos"/>
              </a:rPr>
              <a:t>What earlier studies have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96D7E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68580" cy="2057400"/>
          </a:xfrm>
          <a:prstGeom prst="rect">
            <a:avLst/>
          </a:prstGeom>
          <a:solidFill>
            <a:srgbClr val="66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353312"/>
            <a:ext cx="3200400" cy="3017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9203F"/>
                </a:solidFill>
                <a:latin typeface="Aptos"/>
              </a:rPr>
              <a:t>Dataset paper (2025)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719072"/>
            <a:ext cx="3200400" cy="1490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2B2F3D"/>
                </a:solidFill>
                <a:latin typeface="Aptos"/>
              </a:rPr>
              <a:t>A 2025 paper introduced a dataset with 12,085 records, 14 reported features and seven diagnosis groups.
DOI: 10.1016/j.dib.2025.111623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68580" cy="2057400"/>
          </a:xfrm>
          <a:prstGeom prst="rect">
            <a:avLst/>
          </a:prstGeom>
          <a:solidFill>
            <a:srgbClr val="27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353312"/>
            <a:ext cx="3200400" cy="3017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9203F"/>
                </a:solidFill>
                <a:latin typeface="Aptos"/>
              </a:rPr>
              <a:t>PeerJ Computer Science (2025)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19072"/>
            <a:ext cx="3200400" cy="972574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en-IN" sz="1400" dirty="0"/>
              <a:t>This 2025 study applied machine learning to the same dataset and explained its predictions.</a:t>
            </a:r>
          </a:p>
          <a:p>
            <a:r>
              <a:rPr lang="en-IN" sz="1400" dirty="0"/>
              <a:t>DOI: 10.7717/peerj-cs.3096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3444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234440"/>
            <a:ext cx="68580" cy="2057400"/>
          </a:xfrm>
          <a:prstGeom prst="rect">
            <a:avLst/>
          </a:prstGeom>
          <a:solidFill>
            <a:srgbClr val="D7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353312"/>
            <a:ext cx="3200400" cy="3017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9203F"/>
                </a:solidFill>
                <a:latin typeface="Aptos"/>
              </a:rPr>
              <a:t>BMC Rheumatology (2025)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19072"/>
            <a:ext cx="3200400" cy="972574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en-IN" sz="1400" dirty="0"/>
              <a:t>This 2025 study also used the same dataset to evaluate predictions and explain model decisions using SHAP.</a:t>
            </a:r>
          </a:p>
          <a:p>
            <a:r>
              <a:rPr lang="en-IN" sz="1400" dirty="0"/>
              <a:t>DOI: 10.1186/s41927-025-00607-7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10515600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9203F"/>
                </a:solidFill>
                <a:latin typeface="Aptos"/>
              </a:rPr>
              <a:t>How this affects our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10515600" cy="1077218"/>
          </a:xfrm>
          <a:prstGeom prst="rect">
            <a:avLst/>
          </a:prstGeom>
          <a:noFill/>
        </p:spPr>
        <p:txBody>
          <a:bodyPr wrap="square" lIns="64008" rIns="64008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Using machine learning on this dataset has already been studied.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We will compare RA vs Non-RA classification and test how removing selected blood-test features affects model performance.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We will compare our approach with previous studies before claiming that our work is new.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0584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96D7E"/>
                </a:solidFill>
                <a:latin typeface="Aptos"/>
              </a:rPr>
              <a:t>Major Project-I | Proposed study | No experimental results claimed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19203F"/>
                </a:solidFill>
                <a:latin typeface="Aptos"/>
              </a:rPr>
              <a:t>3. Dataset Availability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777240" cy="50292"/>
          </a:xfrm>
          <a:prstGeom prst="rect">
            <a:avLst/>
          </a:prstGeom>
          <a:solidFill>
            <a:srgbClr val="66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740664"/>
            <a:ext cx="96012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96D7E"/>
                </a:solidFill>
                <a:latin typeface="Aptos"/>
              </a:rPr>
              <a:t>An open dataset that we will download and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96D7E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8580" cy="1965960"/>
          </a:xfrm>
          <a:prstGeom prst="rect">
            <a:avLst/>
          </a:prstGeom>
          <a:solidFill>
            <a:srgbClr val="27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53312"/>
            <a:ext cx="4937760" cy="3017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9203F"/>
                </a:solidFill>
                <a:latin typeface="Aptos"/>
              </a:rPr>
              <a:t>Primary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4937760" cy="139903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dirty="0">
                <a:solidFill>
                  <a:srgbClr val="2B2F3D"/>
                </a:solidFill>
                <a:latin typeface="Aptos"/>
              </a:rPr>
              <a:t>Rheumatic and autoimmune diseases dataset
• 12,085 records reported
• 14 features reported
• 7 diagnosis groups
• Collected in Iraq from 2019 to 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68580" cy="1965960"/>
          </a:xfrm>
          <a:prstGeom prst="rect">
            <a:avLst/>
          </a:prstGeom>
          <a:solidFill>
            <a:srgbClr val="66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353312"/>
            <a:ext cx="4937760" cy="3017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9203F"/>
                </a:solidFill>
                <a:latin typeface="Aptos"/>
              </a:rPr>
              <a:t>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19072"/>
            <a:ext cx="4937760" cy="139903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2B2F3D"/>
                </a:solidFill>
                <a:latin typeface="Aptos"/>
              </a:rPr>
              <a:t>Harvard Dataverse DOI:
10.7910/DVN/VM4OR3
https://dataverse.harvard.edu/dataset.xhtml?persistentId=doi:10.7910/DVN/VM4OR3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11880"/>
            <a:ext cx="10424160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9203F"/>
                </a:solidFill>
                <a:latin typeface="Aptos"/>
              </a:rPr>
              <a:t>Supporting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1033272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27857E"/>
                </a:solidFill>
                <a:latin typeface="Aptos"/>
              </a:rPr>
              <a:t>Data paper: https://doi.org/10.1016/j.dib.2025.111623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80560"/>
            <a:ext cx="1033272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27857E"/>
                </a:solidFill>
                <a:latin typeface="Aptos"/>
              </a:rPr>
              <a:t>Related BMC study: https://doi.org/10.1186/s41927-025-00607-7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74920"/>
            <a:ext cx="104698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5074920"/>
            <a:ext cx="68580" cy="777240"/>
          </a:xfrm>
          <a:prstGeom prst="rect">
            <a:avLst/>
          </a:prstGeom>
          <a:solidFill>
            <a:srgbClr val="AD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60"/>
            <a:ext cx="10149840" cy="3017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600" b="1" dirty="0">
                <a:solidFill>
                  <a:srgbClr val="19203F"/>
                </a:solidFill>
                <a:latin typeface="Aptos"/>
              </a:rPr>
              <a:t>Important limitation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7270" y="5472684"/>
            <a:ext cx="10149840" cy="326243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dirty="0"/>
              <a:t>The records are from Iraq, not India. We cannot claim that the model has been tested or validated on Indian patients.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0584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96D7E"/>
                </a:solidFill>
                <a:latin typeface="Aptos"/>
              </a:rPr>
              <a:t>Major Project-I | Proposed study | No experimental results claimed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4CA6"/>
                </a:solidFill>
                <a:latin typeface="Aptos"/>
              </a:defRPr>
            </a:pPr>
            <a:r>
              <a:t>For this study, RA is one group. The other group combines reactive arthritis, ankylosing spondylitis, Sjögren syndrome, lupus (SLE), psoriatic arthritis and controls.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19203F"/>
                </a:solidFill>
                <a:latin typeface="Aptos"/>
              </a:rPr>
              <a:t>4. Features and Target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777240" cy="50292"/>
          </a:xfrm>
          <a:prstGeom prst="rect">
            <a:avLst/>
          </a:prstGeom>
          <a:solidFill>
            <a:srgbClr val="66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740664"/>
            <a:ext cx="96012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96D7E"/>
                </a:solidFill>
                <a:latin typeface="Aptos"/>
              </a:rPr>
              <a:t>What information goes in, and what does the model predict?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96D7E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80160"/>
            <a:ext cx="68580" cy="2057400"/>
          </a:xfrm>
          <a:prstGeom prst="rect">
            <a:avLst/>
          </a:prstGeom>
          <a:solidFill>
            <a:srgbClr val="66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99031"/>
            <a:ext cx="3108960" cy="3017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9203F"/>
                </a:solidFill>
                <a:latin typeface="Aptos"/>
              </a:rPr>
              <a:t>Input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64792"/>
            <a:ext cx="3108960" cy="1490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2B2F3D"/>
                </a:solidFill>
                <a:latin typeface="Aptos"/>
              </a:rPr>
              <a:t>Age and sex
Rheumatoid factor (RF)
Anti-CCP antibody
ESR and CRP blood tests
Other available blood-test 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68580" cy="2057400"/>
          </a:xfrm>
          <a:prstGeom prst="rect">
            <a:avLst/>
          </a:prstGeom>
          <a:solidFill>
            <a:srgbClr val="27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399031"/>
            <a:ext cx="3108960" cy="3017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9203F"/>
                </a:solidFill>
                <a:latin typeface="Aptos"/>
              </a:rPr>
              <a:t>Target label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64792"/>
            <a:ext cx="3108960" cy="1588127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600" dirty="0"/>
              <a:t>RA group (1): 2,848 records
Non-RA group (0): 9,237 records
The original dataset has 7 groups. We combine 6 of them into non-RA.</a:t>
            </a:r>
          </a:p>
          <a:p>
            <a:endParaRPr lang="en-IN" sz="1600" dirty="0"/>
          </a:p>
          <a:p>
            <a:endParaRPr lang="en-IN" sz="1600" dirty="0"/>
          </a:p>
        </p:txBody>
      </p:sp>
      <p:sp>
        <p:nvSpPr>
          <p:cNvPr id="14" name="Rounded Rectangle 13"/>
          <p:cNvSpPr/>
          <p:nvPr/>
        </p:nvSpPr>
        <p:spPr>
          <a:xfrm>
            <a:off x="8077200" y="128016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8083296" y="1312165"/>
            <a:ext cx="68580" cy="2057400"/>
          </a:xfrm>
          <a:prstGeom prst="rect">
            <a:avLst/>
          </a:prstGeom>
          <a:solidFill>
            <a:srgbClr val="D7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1399031"/>
            <a:ext cx="3108960" cy="3017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9203F"/>
                </a:solidFill>
                <a:latin typeface="Aptos"/>
              </a:rPr>
              <a:t>Data-quality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64792"/>
            <a:ext cx="3108960" cy="1490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dirty="0">
                <a:solidFill>
                  <a:srgbClr val="2B2F3D"/>
                </a:solidFill>
                <a:latin typeface="Aptos"/>
              </a:rPr>
              <a:t>After downloading, we will check the column names, missing values, repeated records and diagnosis labels.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" y="4081831"/>
            <a:ext cx="10424160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800" b="1" dirty="0">
                <a:solidFill>
                  <a:srgbClr val="19203F"/>
                </a:solidFill>
                <a:latin typeface="Aptos"/>
              </a:rPr>
              <a:t>Important concern: the model may learn the answer from the same tests used to make the diagnosis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90" y="4665244"/>
            <a:ext cx="10378440" cy="572464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500" b="0" dirty="0">
                <a:solidFill>
                  <a:srgbClr val="2B2F3D"/>
                </a:solidFill>
                <a:latin typeface="Aptos"/>
              </a:rPr>
              <a:t>If doctors used these blood tests when assigning the diagnosis, the model may simply learn to copy that decision process. It may not be finding a separate sign of disease.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23560"/>
            <a:ext cx="1037844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D3C46"/>
                </a:solidFill>
                <a:latin typeface="Aptos"/>
              </a:rPr>
              <a:t>To check this, we will remove selected blood-test features and see how the results change.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0584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96D7E"/>
                </a:solidFill>
                <a:latin typeface="Aptos"/>
              </a:rPr>
              <a:t>Major Project-I | Proposed study | No experimental results claimed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19203F"/>
                </a:solidFill>
                <a:latin typeface="Aptos"/>
              </a:rPr>
              <a:t>5. Research Gap and Contribution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777240" cy="50292"/>
          </a:xfrm>
          <a:prstGeom prst="rect">
            <a:avLst/>
          </a:prstGeom>
          <a:solidFill>
            <a:srgbClr val="66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740664"/>
            <a:ext cx="96012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96D7E"/>
                </a:solidFill>
                <a:latin typeface="Aptos"/>
              </a:rPr>
              <a:t>A clear research question we can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96D7E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51663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80160"/>
            <a:ext cx="68580" cy="2011680"/>
          </a:xfrm>
          <a:prstGeom prst="rect">
            <a:avLst/>
          </a:prstGeom>
          <a:solidFill>
            <a:srgbClr val="66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99031"/>
            <a:ext cx="4846320" cy="3017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9203F"/>
                </a:solidFill>
                <a:latin typeface="Aptos"/>
              </a:rPr>
              <a:t>Already known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64792"/>
            <a:ext cx="4846320" cy="14447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B2F3D"/>
                </a:solidFill>
                <a:latin typeface="Aptos"/>
              </a:rPr>
              <a:t>• Earlier studies have already used this dataset for machine learning and explainability.
• Studies have also tested all seven diagnosis groups.
• Some input blood tests may have helped doctors decide the diagnosis.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80160"/>
            <a:ext cx="51663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280160"/>
            <a:ext cx="68580" cy="2011680"/>
          </a:xfrm>
          <a:prstGeom prst="rect">
            <a:avLst/>
          </a:prstGeom>
          <a:solidFill>
            <a:srgbClr val="27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399031"/>
            <a:ext cx="4846320" cy="3017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9203F"/>
                </a:solidFill>
                <a:latin typeface="Aptos"/>
              </a:rPr>
              <a:t>Our proposed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64792"/>
            <a:ext cx="4846320" cy="14447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B2F3D"/>
                </a:solidFill>
                <a:latin typeface="Aptos"/>
              </a:rPr>
              <a:t>• Separate records into RA and non-RA groups.
• Compare the model using all available features and smaller feature sets.
• Check the effect of removing RF, anti-CCP, ESR and CRP.
• Explain the results carefully.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10424160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9203F"/>
                </a:solidFill>
                <a:latin typeface="Aptos"/>
              </a:rPr>
              <a:t>Our research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43400"/>
            <a:ext cx="10332720" cy="8229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t>Does the model perform differently when we remove selected blood-test results?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394960"/>
            <a:ext cx="1037844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D3C46"/>
                </a:solidFill>
                <a:latin typeface="Aptos"/>
              </a:rPr>
              <a:t>We must check earlier research before saying this approach is new.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0584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96D7E"/>
                </a:solidFill>
                <a:latin typeface="Aptos"/>
              </a:rPr>
              <a:t>Major Project-I | Proposed study | No experimental results claimed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19203F"/>
                </a:solidFill>
                <a:latin typeface="Aptos"/>
              </a:rPr>
              <a:t>6. Proposed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777240" cy="50292"/>
          </a:xfrm>
          <a:prstGeom prst="rect">
            <a:avLst/>
          </a:prstGeom>
          <a:solidFill>
            <a:srgbClr val="66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740664"/>
            <a:ext cx="96012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96D7E"/>
                </a:solidFill>
                <a:latin typeface="Aptos"/>
              </a:rPr>
              <a:t>Steps we plan to follow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96D7E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581912"/>
            <a:ext cx="22860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9203F"/>
                </a:solidFill>
                <a:latin typeface="Aptos"/>
              </a:rPr>
              <a:t>1. Download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20824"/>
            <a:ext cx="2267712" cy="6217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2B2F3D"/>
                </a:solidFill>
                <a:latin typeface="Aptos"/>
              </a:rPr>
              <a:t>Download the data, research paper and license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7015" y="141732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1581912"/>
            <a:ext cx="22860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9203F"/>
                </a:solidFill>
                <a:latin typeface="Aptos"/>
              </a:rPr>
              <a:t>2.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020824"/>
            <a:ext cx="2267712" cy="6217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2B2F3D"/>
                </a:solidFill>
                <a:latin typeface="Aptos"/>
              </a:rPr>
              <a:t>Check columns, labels and missing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55664" y="141732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1581912"/>
            <a:ext cx="22860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9203F"/>
                </a:solidFill>
                <a:latin typeface="Aptos"/>
              </a:rPr>
              <a:t>3.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020824"/>
            <a:ext cx="2267712" cy="6217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2B2F3D"/>
                </a:solidFill>
                <a:latin typeface="Aptos"/>
              </a:rPr>
              <a:t>Split the records fairly into training and test sets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54312" y="141732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0616" y="1581912"/>
            <a:ext cx="22860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9203F"/>
                </a:solidFill>
                <a:latin typeface="Aptos"/>
              </a:rPr>
              <a:t>4. Preprocess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616" y="2020824"/>
            <a:ext cx="2267712" cy="6217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2B2F3D"/>
                </a:solidFill>
                <a:latin typeface="Aptos"/>
              </a:rPr>
              <a:t>Fill missing values and prepare categories using training data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56616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730752"/>
            <a:ext cx="22860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9203F"/>
                </a:solidFill>
                <a:latin typeface="Aptos"/>
              </a:rPr>
              <a:t>5. Train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169664"/>
            <a:ext cx="2267712" cy="6217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2B2F3D"/>
                </a:solidFill>
                <a:latin typeface="Aptos"/>
              </a:rPr>
              <a:t>Train Logistic Regression, Random Forest, XGBoost and an ANN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57015" y="356616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03320" y="3730752"/>
            <a:ext cx="22860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9203F"/>
                </a:solidFill>
                <a:latin typeface="Aptos"/>
              </a:rPr>
              <a:t>6. Ablate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169664"/>
            <a:ext cx="2267712" cy="6217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2B2F3D"/>
                </a:solidFill>
                <a:latin typeface="Aptos"/>
              </a:rPr>
              <a:t>Compare all features with selected features removed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55664" y="356616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1968" y="3730752"/>
            <a:ext cx="22860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9203F"/>
                </a:solidFill>
                <a:latin typeface="Aptos"/>
              </a:rPr>
              <a:t>7. Evaluate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4169664"/>
            <a:ext cx="2267712" cy="6217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2B2F3D"/>
                </a:solidFill>
                <a:latin typeface="Aptos"/>
              </a:rPr>
              <a:t>Check how well the model finds RA and how often it is wrong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54312" y="356616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00616" y="3730752"/>
            <a:ext cx="22860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9203F"/>
                </a:solidFill>
                <a:latin typeface="Aptos"/>
              </a:rPr>
              <a:t>8. 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4169664"/>
            <a:ext cx="2267712" cy="6217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2B2F3D"/>
                </a:solidFill>
                <a:latin typeface="Aptos"/>
              </a:rPr>
              <a:t>Explain which features influence the model, and report its limits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715000"/>
            <a:ext cx="1042416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D3C46"/>
                </a:solidFill>
                <a:latin typeface="Aptos"/>
              </a:rPr>
              <a:t>To avoid unfair results, prepare the data using training records only. Do not adjust the model using the final test set.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100584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96D7E"/>
                </a:solidFill>
                <a:latin typeface="Aptos"/>
              </a:rPr>
              <a:t>Major Project-I | Proposed study | No experimental results claimed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19203F"/>
                </a:solidFill>
                <a:latin typeface="Aptos"/>
              </a:rPr>
              <a:t>7. Models and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777240" cy="50292"/>
          </a:xfrm>
          <a:prstGeom prst="rect">
            <a:avLst/>
          </a:prstGeom>
          <a:solidFill>
            <a:srgbClr val="66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740664"/>
            <a:ext cx="96012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96D7E"/>
                </a:solidFill>
                <a:latin typeface="Aptos"/>
              </a:rPr>
              <a:t>How we will compare the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96D7E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0584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042416"/>
            <a:ext cx="68580" cy="1737360"/>
          </a:xfrm>
          <a:prstGeom prst="rect">
            <a:avLst/>
          </a:prstGeom>
          <a:solidFill>
            <a:srgbClr val="66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99031"/>
            <a:ext cx="3108960" cy="3017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9203F"/>
                </a:solidFill>
                <a:latin typeface="Aptos"/>
              </a:rPr>
              <a:t>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64792"/>
            <a:ext cx="3108960" cy="117043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B2F3D"/>
                </a:solidFill>
                <a:latin typeface="Aptos"/>
              </a:rPr>
              <a:t>A simple starting model that is easier to interpret.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0584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005840"/>
            <a:ext cx="68580" cy="1737360"/>
          </a:xfrm>
          <a:prstGeom prst="rect">
            <a:avLst/>
          </a:prstGeom>
          <a:solidFill>
            <a:srgbClr val="27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399031"/>
            <a:ext cx="3108960" cy="3017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9203F"/>
                </a:solidFill>
                <a:latin typeface="Aptos"/>
              </a:rP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64792"/>
            <a:ext cx="3108960" cy="117043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B2F3D"/>
                </a:solidFill>
                <a:latin typeface="Aptos"/>
              </a:rPr>
              <a:t>A model that can learn more complicated patterns in the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00584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042416"/>
            <a:ext cx="68580" cy="1737360"/>
          </a:xfrm>
          <a:prstGeom prst="rect">
            <a:avLst/>
          </a:prstGeom>
          <a:solidFill>
            <a:srgbClr val="D7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1399031"/>
            <a:ext cx="3108960" cy="3017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600" b="1" dirty="0" err="1">
                <a:solidFill>
                  <a:srgbClr val="19203F"/>
                </a:solidFill>
                <a:latin typeface="Aptos"/>
              </a:rPr>
              <a:t>XGBoost</a:t>
            </a:r>
            <a:endParaRPr sz="1600" b="1" dirty="0">
              <a:solidFill>
                <a:srgbClr val="19203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75319" y="1764792"/>
            <a:ext cx="3108960" cy="117043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B2F3D"/>
                </a:solidFill>
                <a:latin typeface="Aptos"/>
              </a:rPr>
              <a:t>Another tree-based model. We will adjust it using training and validation data, not the final test 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4837175"/>
            <a:ext cx="502920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9203F"/>
                </a:solidFill>
                <a:latin typeface="Aptos"/>
              </a:rPr>
              <a:t>How we will measure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9120" y="5248655"/>
            <a:ext cx="5029200" cy="1417320"/>
          </a:xfrm>
          <a:prstGeom prst="rect">
            <a:avLst/>
          </a:prstGeom>
          <a:noFill/>
        </p:spPr>
        <p:txBody>
          <a:bodyPr wrap="square" lIns="64008" rIns="6400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B2F3D"/>
                </a:solidFill>
                <a:latin typeface="Aptos"/>
              </a:defRPr>
            </a:pPr>
            <a:r>
              <a:rPr dirty="0"/>
              <a:t>• RA recall: how many RA records it finds
• Precision and F1: how reliable its RA predictions are
• PR-AUC: how well it separates the two groups
• Confusion matrix and specificity: types of correct and wrong predictions</a:t>
            </a:r>
          </a:p>
          <a:p>
            <a:pPr>
              <a:spcAft>
                <a:spcPts val="700"/>
              </a:spcAft>
              <a:defRPr sz="1400">
                <a:solidFill>
                  <a:srgbClr val="2B2F3D"/>
                </a:solidFill>
                <a:latin typeface="Aptos"/>
              </a:defRPr>
            </a:pPr>
            <a:endParaRPr dirty="0"/>
          </a:p>
          <a:p>
            <a:pPr>
              <a:spcAft>
                <a:spcPts val="700"/>
              </a:spcAft>
              <a:defRPr sz="1400">
                <a:solidFill>
                  <a:srgbClr val="2B2F3D"/>
                </a:solidFill>
                <a:latin typeface="Aptos"/>
              </a:defRPr>
            </a:pP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675120" y="4837175"/>
            <a:ext cx="493776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9203F"/>
                </a:solidFill>
                <a:latin typeface="Aptos"/>
              </a:rPr>
              <a:t>Fair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5248655"/>
            <a:ext cx="4983480" cy="1417320"/>
          </a:xfrm>
          <a:prstGeom prst="rect">
            <a:avLst/>
          </a:prstGeom>
          <a:noFill/>
        </p:spPr>
        <p:txBody>
          <a:bodyPr wrap="square" lIns="64008" rIns="6400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B2F3D"/>
                </a:solidFill>
                <a:latin typeface="Aptos"/>
              </a:defRPr>
            </a:pPr>
            <a:r>
              <a:rPr dirty="0"/>
              <a:t>• Use the same data split for every model
• Keep both groups represented in each split
• Never tune the model on the final test set</a:t>
            </a:r>
          </a:p>
          <a:p>
            <a:pPr>
              <a:spcAft>
                <a:spcPts val="700"/>
              </a:spcAft>
              <a:defRPr sz="1400">
                <a:solidFill>
                  <a:srgbClr val="2B2F3D"/>
                </a:solidFill>
                <a:latin typeface="Aptos"/>
              </a:defRPr>
            </a:pPr>
            <a:endParaRPr dirty="0"/>
          </a:p>
          <a:p>
            <a:pPr>
              <a:spcAft>
                <a:spcPts val="700"/>
              </a:spcAft>
              <a:defRPr sz="1400">
                <a:solidFill>
                  <a:srgbClr val="2B2F3D"/>
                </a:solidFill>
                <a:latin typeface="Aptos"/>
              </a:defRPr>
            </a:pP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0584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96D7E"/>
                </a:solidFill>
                <a:latin typeface="Aptos"/>
              </a:rPr>
              <a:t>Major Project-I | Proposed study | No experimental results claimed</a:t>
            </a:r>
          </a:p>
        </p:txBody>
      </p:sp>
      <p:sp>
        <p:nvSpPr>
          <p:cNvPr id="25" name="Rounded Rectangle 9">
            <a:extLst>
              <a:ext uri="{FF2B5EF4-FFF2-40B4-BE49-F238E27FC236}">
                <a16:creationId xmlns:a16="http://schemas.microsoft.com/office/drawing/2014/main" id="{71FA6DF4-A8B9-6D04-BFDE-3AA5E27686AA}"/>
              </a:ext>
            </a:extLst>
          </p:cNvPr>
          <p:cNvSpPr/>
          <p:nvPr/>
        </p:nvSpPr>
        <p:spPr>
          <a:xfrm>
            <a:off x="4389120" y="3008375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734C44-D7BF-5C20-CB89-32B22FA4B3B6}"/>
              </a:ext>
            </a:extLst>
          </p:cNvPr>
          <p:cNvSpPr/>
          <p:nvPr/>
        </p:nvSpPr>
        <p:spPr>
          <a:xfrm>
            <a:off x="4389120" y="3008375"/>
            <a:ext cx="68580" cy="1737360"/>
          </a:xfrm>
          <a:prstGeom prst="rect">
            <a:avLst/>
          </a:prstGeom>
          <a:solidFill>
            <a:srgbClr val="27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F38318-2AD1-1780-2CE2-C8B1EB8570DD}"/>
              </a:ext>
            </a:extLst>
          </p:cNvPr>
          <p:cNvSpPr txBox="1"/>
          <p:nvPr/>
        </p:nvSpPr>
        <p:spPr>
          <a:xfrm>
            <a:off x="4625342" y="3118102"/>
            <a:ext cx="3108960" cy="35702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lang="en-IN" sz="1600" b="1" dirty="0">
                <a:solidFill>
                  <a:srgbClr val="19203F"/>
                </a:solidFill>
                <a:latin typeface="Aptos"/>
              </a:rPr>
              <a:t>ANN</a:t>
            </a:r>
            <a:endParaRPr sz="1600" b="1" dirty="0">
              <a:solidFill>
                <a:srgbClr val="19203F"/>
              </a:solidFill>
              <a:latin typeface="Apto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60A750-9113-108B-E84C-899A13942F3F}"/>
              </a:ext>
            </a:extLst>
          </p:cNvPr>
          <p:cNvSpPr txBox="1"/>
          <p:nvPr/>
        </p:nvSpPr>
        <p:spPr>
          <a:xfrm>
            <a:off x="4625342" y="3483863"/>
            <a:ext cx="3108960" cy="972574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en-IN" sz="1400" dirty="0"/>
              <a:t>A neural network that learns patterns by connecting layers of simple processing units.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19203F"/>
                </a:solidFill>
                <a:latin typeface="Aptos"/>
              </a:rPr>
              <a:t>8. Limitations, Deliverables and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32104"/>
            <a:ext cx="777240" cy="50292"/>
          </a:xfrm>
          <a:prstGeom prst="rect">
            <a:avLst/>
          </a:prstGeom>
          <a:solidFill>
            <a:srgbClr val="66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740664"/>
            <a:ext cx="96012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96D7E"/>
                </a:solidFill>
                <a:latin typeface="Aptos"/>
              </a:rPr>
              <a:t>What we expect to deliver, and what the limits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96D7E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8580" cy="1965960"/>
          </a:xfrm>
          <a:prstGeom prst="rect">
            <a:avLst/>
          </a:prstGeom>
          <a:solidFill>
            <a:srgbClr val="AD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53312"/>
            <a:ext cx="4892040" cy="3017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9203F"/>
                </a:solidFill>
                <a:latin typeface="Aptos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4892040" cy="139903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2B2F3D"/>
                </a:solidFill>
                <a:latin typeface="Aptos"/>
              </a:rPr>
              <a:t>• The data does not confirm early-stage RA or future disease onset.
• All records come from Iraq.
• Some blood-test results may be missing.
• The diagnosis may depend on the same tests used by the model.
• The model has not been tested in real clinical practice.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68580" cy="1965960"/>
          </a:xfrm>
          <a:prstGeom prst="rect">
            <a:avLst/>
          </a:prstGeom>
          <a:solidFill>
            <a:srgbClr val="27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353312"/>
            <a:ext cx="4892040" cy="3017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9203F"/>
                </a:solidFill>
                <a:latin typeface="Aptos"/>
              </a:rPr>
              <a:t>Expected deliverables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19072"/>
            <a:ext cx="4892040" cy="139903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2B2F3D"/>
                </a:solidFill>
                <a:latin typeface="Aptos"/>
              </a:rPr>
              <a:t>• A checked summary of the dataset
• Reproducible model-training code
• Results comparing RA and non-RA classification
• Tests showing the effect of removing blood-test features
• Charts explaining the model and a report of its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10424160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9203F"/>
                </a:solidFill>
                <a:latin typeface="Aptos"/>
              </a:rPr>
              <a:t>Core 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10424160" cy="1554480"/>
          </a:xfrm>
          <a:prstGeom prst="rect">
            <a:avLst/>
          </a:prstGeom>
          <a:noFill/>
        </p:spPr>
        <p:txBody>
          <a:bodyPr wrap="square" lIns="64008" rIns="6400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B2F3D"/>
                </a:solidFill>
                <a:latin typeface="Aptos"/>
              </a:defRPr>
            </a:pPr>
            <a:r>
              <a:t>•  Data in Brief (2025), dataset paper: doi.org/10.1016/j.dib.2025.111623</a:t>
            </a:r>
          </a:p>
          <a:p>
            <a:pPr>
              <a:spcAft>
                <a:spcPts val="500"/>
              </a:spcAft>
              <a:defRPr sz="1200">
                <a:solidFill>
                  <a:srgbClr val="2B2F3D"/>
                </a:solidFill>
                <a:latin typeface="Aptos"/>
              </a:defRPr>
            </a:pPr>
            <a:r>
              <a:t>•  PeerJ Computer Science (2025): doi.org/10.7717/peerj-cs.3096</a:t>
            </a:r>
          </a:p>
          <a:p>
            <a:pPr>
              <a:spcAft>
                <a:spcPts val="500"/>
              </a:spcAft>
              <a:defRPr sz="1200">
                <a:solidFill>
                  <a:srgbClr val="2B2F3D"/>
                </a:solidFill>
                <a:latin typeface="Aptos"/>
              </a:defRPr>
            </a:pPr>
            <a:r>
              <a:t>•  BMC Rheumatology (2025): doi.org/10.1186/s41927-025-00607-7</a:t>
            </a:r>
          </a:p>
          <a:p>
            <a:pPr>
              <a:spcAft>
                <a:spcPts val="500"/>
              </a:spcAft>
              <a:defRPr sz="1200">
                <a:solidFill>
                  <a:srgbClr val="2B2F3D"/>
                </a:solidFill>
                <a:latin typeface="Aptos"/>
              </a:defRPr>
            </a:pPr>
            <a:r>
              <a:t>•  Harvard Dataverse: doi.org/10.7910/DVN/VM4OR3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97880"/>
            <a:ext cx="1033272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D3C46"/>
                </a:solidFill>
                <a:latin typeface="Aptos"/>
              </a:rPr>
              <a:t>This is an exploratory study of existing diagnosis records. It is not a tool for diagnosing patients.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0584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96D7E"/>
                </a:solidFill>
                <a:latin typeface="Aptos"/>
              </a:rPr>
              <a:t>Major Project-I | Proposed study | No experimental results claimed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1440</Words>
  <Application>Microsoft Office PowerPoint</Application>
  <PresentationFormat>Widescreen</PresentationFormat>
  <Paragraphs>125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Anjani Kumar</cp:lastModifiedBy>
  <cp:revision>3</cp:revision>
  <dcterms:created xsi:type="dcterms:W3CDTF">2013-01-27T09:14:16Z</dcterms:created>
  <dcterms:modified xsi:type="dcterms:W3CDTF">2026-10-14T06:43:48Z</dcterms:modified>
  <cp:category/>
</cp:coreProperties>
</file>